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10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11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2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3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pt-BR" sz="60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7E368-0621-4AD4-A261-81BC5BE03A98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1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2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3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4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27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28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29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30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4AF5F6-253B-4B9B-8FF7-3B5D458AFC6F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8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2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3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44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45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6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47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81C014-3809-4B8D-B647-C74BBC087920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5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6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7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8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9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0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61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62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3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4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8B3D8E-DACD-40AD-BCA7-7EDD18227D36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2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3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4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6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78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79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0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1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60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62C40B-A98B-4EEE-81F8-304AF13B2403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9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0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2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3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4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95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96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7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8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34F522-6E0B-4836-96A7-E87BC30730CF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7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8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09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0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1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2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113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114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15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16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167A51-4FDF-41F7-BE76-D282387C4E56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7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8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9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0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1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2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133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134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35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36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E6CFE0-6BA4-412A-9696-9834810B001C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3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4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5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6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7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8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149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150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51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52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8ADAC8-61E0-4C79-9A8C-CB3CADD1C3A5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8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59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0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1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2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3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164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165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66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67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3BA807-E415-4F64-AC64-D2C2E62CF06E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m 6" descr="Texto&#10;&#10;Descrição gerada automaticamente com confiança baixa"/>
          <p:cNvPicPr/>
          <p:nvPr/>
        </p:nvPicPr>
        <p:blipFill>
          <a:blip r:embed="rId2"/>
          <a:srcRect l="11764" t="1854" r="64727" b="42834"/>
          <a:stretch/>
        </p:blipFill>
        <p:spPr>
          <a:xfrm>
            <a:off x="0" y="11160"/>
            <a:ext cx="1053720" cy="105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Retângulo 7"/>
          <p:cNvSpPr/>
          <p:nvPr/>
        </p:nvSpPr>
        <p:spPr>
          <a:xfrm>
            <a:off x="1262880" y="-435960"/>
            <a:ext cx="376920" cy="376920"/>
          </a:xfrm>
          <a:prstGeom prst="rect">
            <a:avLst/>
          </a:prstGeom>
          <a:solidFill>
            <a:srgbClr val="0367a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6" name="Retângulo 8"/>
          <p:cNvSpPr/>
          <p:nvPr/>
        </p:nvSpPr>
        <p:spPr>
          <a:xfrm>
            <a:off x="841680" y="-435960"/>
            <a:ext cx="376920" cy="376920"/>
          </a:xfrm>
          <a:prstGeom prst="rect">
            <a:avLst/>
          </a:prstGeom>
          <a:solidFill>
            <a:srgbClr val="034c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7" name="Retângulo 9"/>
          <p:cNvSpPr/>
          <p:nvPr/>
        </p:nvSpPr>
        <p:spPr>
          <a:xfrm>
            <a:off x="420840" y="-435960"/>
            <a:ext cx="376920" cy="376920"/>
          </a:xfrm>
          <a:prstGeom prst="rect">
            <a:avLst/>
          </a:prstGeom>
          <a:solidFill>
            <a:srgbClr val="033e8c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8" name="Retângulo 10"/>
          <p:cNvSpPr/>
          <p:nvPr/>
        </p:nvSpPr>
        <p:spPr>
          <a:xfrm>
            <a:off x="2525400" y="-435960"/>
            <a:ext cx="376920" cy="37692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9" name="Retângulo 11"/>
          <p:cNvSpPr/>
          <p:nvPr/>
        </p:nvSpPr>
        <p:spPr>
          <a:xfrm>
            <a:off x="2104560" y="-434160"/>
            <a:ext cx="376920" cy="376920"/>
          </a:xfrm>
          <a:prstGeom prst="rect">
            <a:avLst/>
          </a:prstGeom>
          <a:solidFill>
            <a:srgbClr val="f2a516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0" name="Retângulo 12"/>
          <p:cNvSpPr/>
          <p:nvPr/>
        </p:nvSpPr>
        <p:spPr>
          <a:xfrm>
            <a:off x="1683720" y="-434160"/>
            <a:ext cx="376920" cy="376920"/>
          </a:xfrm>
          <a:prstGeom prst="rect">
            <a:avLst/>
          </a:prstGeom>
          <a:solidFill>
            <a:srgbClr val="f2bf27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1" name="Retângulo 13"/>
          <p:cNvSpPr/>
          <p:nvPr/>
        </p:nvSpPr>
        <p:spPr>
          <a:xfrm>
            <a:off x="0" y="-434160"/>
            <a:ext cx="376920" cy="376920"/>
          </a:xfrm>
          <a:prstGeom prst="rect">
            <a:avLst/>
          </a:prstGeom>
          <a:solidFill>
            <a:srgbClr val="00005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182" name="Agrupar 14"/>
          <p:cNvGrpSpPr/>
          <p:nvPr/>
        </p:nvGrpSpPr>
        <p:grpSpPr>
          <a:xfrm>
            <a:off x="0" y="6642720"/>
            <a:ext cx="12191760" cy="214920"/>
            <a:chOff x="0" y="6642720"/>
            <a:chExt cx="12191760" cy="214920"/>
          </a:xfrm>
        </p:grpSpPr>
        <p:sp>
          <p:nvSpPr>
            <p:cNvPr id="183" name="Retângulo 15"/>
            <p:cNvSpPr/>
            <p:nvPr/>
          </p:nvSpPr>
          <p:spPr>
            <a:xfrm>
              <a:off x="0" y="6678360"/>
              <a:ext cx="12191760" cy="7164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27000" bIns="27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84" name="Retângulo 16"/>
            <p:cNvSpPr/>
            <p:nvPr/>
          </p:nvSpPr>
          <p:spPr>
            <a:xfrm>
              <a:off x="0" y="6642720"/>
              <a:ext cx="12191760" cy="3564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-9000" bIns="-9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85" name="Retângulo 17"/>
            <p:cNvSpPr/>
            <p:nvPr/>
          </p:nvSpPr>
          <p:spPr>
            <a:xfrm>
              <a:off x="0" y="6750360"/>
              <a:ext cx="12191760" cy="107280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Clique para editar o título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no ícone para adicionar uma imagem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os estilos de texto Mestres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659A8C-133D-4A9C-87D4-8DDBF87B6898}" type="slidenum">
              <a:rPr lang="pt-BR" sz="12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pt-BR" sz="60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Disciplina:</a:t>
            </a:r>
            <a:br>
              <a:rPr sz="6000"/>
            </a:br>
            <a:r>
              <a:rPr lang="pt-BR" sz="60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Eletrônica Digital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Aula 00: Sistemas de Numeração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Agrupar 12"/>
          <p:cNvGrpSpPr/>
          <p:nvPr/>
        </p:nvGrpSpPr>
        <p:grpSpPr>
          <a:xfrm>
            <a:off x="1060920" y="3246120"/>
            <a:ext cx="10292400" cy="3154320"/>
            <a:chOff x="1060920" y="3246120"/>
            <a:chExt cx="10292400" cy="3154320"/>
          </a:xfrm>
        </p:grpSpPr>
        <p:sp>
          <p:nvSpPr>
            <p:cNvPr id="195" name="Retângulo 10"/>
            <p:cNvSpPr/>
            <p:nvPr/>
          </p:nvSpPr>
          <p:spPr>
            <a:xfrm>
              <a:off x="1060920" y="3246120"/>
              <a:ext cx="5107320" cy="3154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196" name="Retângulo 11"/>
            <p:cNvSpPr/>
            <p:nvPr/>
          </p:nvSpPr>
          <p:spPr>
            <a:xfrm>
              <a:off x="6246000" y="3246120"/>
              <a:ext cx="5107320" cy="315432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Planejamento do Semestre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142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Disciplina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Eletrônica Digital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Carga horaria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 80h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Ementa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: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9" name="CaixaDeTexto 7"/>
          <p:cNvSpPr/>
          <p:nvPr/>
        </p:nvSpPr>
        <p:spPr>
          <a:xfrm>
            <a:off x="6168600" y="3429000"/>
            <a:ext cx="496224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0" name="CaixaDeTexto 13"/>
          <p:cNvSpPr/>
          <p:nvPr/>
        </p:nvSpPr>
        <p:spPr>
          <a:xfrm>
            <a:off x="1060920" y="3246120"/>
            <a:ext cx="5107320" cy="33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0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P1: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Sistemas de Numeração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Decimal, Binário, Octal e Hexadecimal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Conversão entre sistemas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Funções Lógicas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Conceito de função lógica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Variáveis lógicas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Portas Lógicas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AND, OR, NOT, NAND, NOR, XOR, XNOR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Tabelas-verdade e símbolos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Formas de Representação de Funções Lógicas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Tabela-verdade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Expressões booleanas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Diagramas lógicos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Minimização de Funções Lógicas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Álgebra de Boole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Mapas de Karnaugh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Projetos de Circuitos Lógicos Combinacionais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Metodologia de projeto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Implementação com portas lógicas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Circuitos Combinacionais Básicos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Codificadores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Decodificadores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Multiplexadores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Demultiplexadores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Comparadores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CaixaDeTexto 14"/>
          <p:cNvSpPr/>
          <p:nvPr/>
        </p:nvSpPr>
        <p:spPr>
          <a:xfrm>
            <a:off x="6246000" y="3243240"/>
            <a:ext cx="5107320" cy="33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2" spcCol="0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P2: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Flip-Flops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SR, JK, D e T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Funcionamento e aplicações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Registradores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Registradores de deslocamento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Armazenamento de dados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Contadores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Contadores síncronos e assíncronos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Contadores crescentes e decrescentes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Circuitos Aritméticos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Somadores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Subtratores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Operações aritméticas básicas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Memórias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ROM, RAM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Conceitos de armazenamento digital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Circuitos Sequenciais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Diferença entre combinacionais e sequenciais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Análise e projeto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Máquinas de Estados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Máquinas de </a:t>
            </a: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Moore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Máquinas de </a:t>
            </a: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Mealy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Introdução aos Microprocessadores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Conceitos básicos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Funcionamento geral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Simulação de Circuitos Digitais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Uso de ferramentas de software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Testes e validação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05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Projeto usando Dispositivos MSI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Circuitos integrados de média escala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914400">
              <a:lnSpc>
                <a:spcPct val="100000"/>
              </a:lnSpc>
            </a:pPr>
            <a:r>
              <a:rPr lang="pt-BR" sz="10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Aplicações práticas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O que é um Sistema de Numeração?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983520" y="2876400"/>
            <a:ext cx="10370160" cy="330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Conjunto de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símbolos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e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regras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representar números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Cada sistema possui uma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base (radix)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 valor de um dígito depende: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 símbolo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 posição que ocupa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Exemplo:</a:t>
            </a:r>
            <a:br>
              <a:rPr sz="2800"/>
            </a:b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345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o dígito 3 vale 300 por causa da posição.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4" name="Retângulo 6"/>
          <p:cNvSpPr/>
          <p:nvPr/>
        </p:nvSpPr>
        <p:spPr>
          <a:xfrm>
            <a:off x="838080" y="1476360"/>
            <a:ext cx="9943920" cy="1325160"/>
          </a:xfrm>
          <a:prstGeom prst="rect">
            <a:avLst/>
          </a:prstGeom>
          <a:solidFill>
            <a:schemeClr val="tx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“Um sistema de numeração é um conjunto de símbolos e regras utilizados para representar números. O valor de um número depende tanto dos símbolos utilizados quanto de suas posições relativas dentro do sistema.”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it-IT" sz="1100" b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MANO, M. Morris; CILETTI, Michael D.</a:t>
            </a:r>
            <a:br>
              <a:rPr sz="1100"/>
            </a:br>
            <a:r>
              <a:rPr lang="it-IT" sz="1100" b="0" i="1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Digital Design</a:t>
            </a:r>
            <a:r>
              <a:rPr lang="it-IT" sz="1100" b="0" u="none" strike="noStrike">
                <a:solidFill>
                  <a:schemeClr val="lt1"/>
                </a:solidFill>
                <a:effectLst/>
                <a:uFillTx/>
                <a:latin typeface="Aptos"/>
              </a:rPr>
              <a:t>. 5. ed. Pearson Education, 2013.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Conceito de Base (Radix)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base indica quantos símbolos o sistema possui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Também define o peso de cada posição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7" name="Tabela 13"/>
          <p:cNvGraphicFramePr/>
          <p:nvPr/>
        </p:nvGraphicFramePr>
        <p:xfrm>
          <a:off x="1327320" y="3101040"/>
          <a:ext cx="8578440" cy="1854000"/>
        </p:xfrm>
        <a:graphic>
          <a:graphicData uri="http://schemas.openxmlformats.org/drawingml/2006/table">
            <a:tbl>
              <a:tblPr/>
              <a:tblGrid>
                <a:gridCol w="2859480"/>
                <a:gridCol w="2374560"/>
                <a:gridCol w="33444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Sistema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Base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Valores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Binário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Octal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0,1,2,3,4,5,6,7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Decimal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0,1,2,3,4,5,6,7,8,9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Hexadecimal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0,1,2,3,4,5,6,7,8,9,A,B,C,D,E,F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Sistema Decimal (Base 10)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Sistema Binário (Base 2)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Por que o Binário é usado?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Circuitos eletrônicos trabalham com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dois níveis de tensão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 → desligado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 → ligado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Maior confiabilidade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Implementação mais simples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Toda informação digital é representada em binário.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Sistema Octal (Base 8)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Sistema Hexadecimal (Base 16)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Dígitos: 0–9 e A–F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Muito usado em: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Memórias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Endereçamento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Microprocessadores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Cada dígito hexadecimal equivale a 4 bits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8" name="Tabela 5"/>
          <p:cNvGraphicFramePr/>
          <p:nvPr/>
        </p:nvGraphicFramePr>
        <p:xfrm>
          <a:off x="1965240" y="4777200"/>
          <a:ext cx="8127720" cy="1112400"/>
        </p:xfrm>
        <a:graphic>
          <a:graphicData uri="http://schemas.openxmlformats.org/drawingml/2006/table">
            <a:tbl>
              <a:tblPr/>
              <a:tblGrid>
                <a:gridCol w="4063680"/>
                <a:gridCol w="40636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Hex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Bin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1111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Comparação entre os Sistemas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1" name="Tabela 6"/>
          <p:cNvGraphicFramePr/>
          <p:nvPr/>
        </p:nvGraphicFramePr>
        <p:xfrm>
          <a:off x="1936800" y="2557800"/>
          <a:ext cx="8540280" cy="1854000"/>
        </p:xfrm>
        <a:graphic>
          <a:graphicData uri="http://schemas.openxmlformats.org/drawingml/2006/table">
            <a:tbl>
              <a:tblPr/>
              <a:tblGrid>
                <a:gridCol w="2846880"/>
                <a:gridCol w="2264760"/>
                <a:gridCol w="342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Sistema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Base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Uso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Decimal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Uso humano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Binário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Circuitos digitais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Octal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Conversão simplificada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Hexadecimal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Representação compacta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Decimal → Binário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3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Tabela 4"/>
          <p:cNvGraphicFramePr/>
          <p:nvPr/>
        </p:nvGraphicFramePr>
        <p:xfrm>
          <a:off x="1384200" y="2883960"/>
          <a:ext cx="8127720" cy="18540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Divisão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Quociente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Resto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13 ÷ 2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 ÷ 2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 ÷ 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 ÷ 2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Decimal → Octal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7" name="Tabela 15"/>
          <p:cNvGraphicFramePr/>
          <p:nvPr/>
        </p:nvGraphicFramePr>
        <p:xfrm>
          <a:off x="1612800" y="3069000"/>
          <a:ext cx="8127720" cy="14832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Divisão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Quociente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Resto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229 ÷ 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28 ÷ 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 ÷ 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Decimal → Hexadecimal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0" name="Tabela 9"/>
          <p:cNvGraphicFramePr/>
          <p:nvPr/>
        </p:nvGraphicFramePr>
        <p:xfrm>
          <a:off x="1441440" y="3005640"/>
          <a:ext cx="8127720" cy="11124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Divisão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Quociente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Resto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218 ÷ 16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13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13 ÷ 16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Binário → Decimal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Octal → Decimal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Hexadecimal → Decimal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Binário → Octal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531" t="-2664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Binário ↔ Hexadecimal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Octal → Binário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3" name="Tabela 10"/>
          <p:cNvGraphicFramePr/>
          <p:nvPr/>
        </p:nvGraphicFramePr>
        <p:xfrm>
          <a:off x="2031840" y="2962440"/>
          <a:ext cx="5418360" cy="14832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Octal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Binário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011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Hexadecimal → Binário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1058" t="-238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6" name="Tabela 4"/>
          <p:cNvGraphicFramePr/>
          <p:nvPr/>
        </p:nvGraphicFramePr>
        <p:xfrm>
          <a:off x="2098800" y="3056400"/>
          <a:ext cx="5418360" cy="11124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Hex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Binário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1101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Octal → Hexadecimal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Tabela 3"/>
          <p:cNvGraphicFramePr/>
          <p:nvPr/>
        </p:nvGraphicFramePr>
        <p:xfrm>
          <a:off x="2631960" y="3143160"/>
          <a:ext cx="5418360" cy="14832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Octal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Binário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011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Conversão: Hexadecimal → Octal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881" t="-3930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2" name="Tabela 3"/>
          <p:cNvGraphicFramePr/>
          <p:nvPr/>
        </p:nvGraphicFramePr>
        <p:xfrm>
          <a:off x="2403360" y="3215520"/>
          <a:ext cx="5418360" cy="1112400"/>
        </p:xfrm>
        <a:graphic>
          <a:graphicData uri="http://schemas.openxmlformats.org/drawingml/2006/table">
            <a:tbl>
              <a:tblPr/>
              <a:tblGrid>
                <a:gridCol w="2709000"/>
                <a:gridCol w="2709000"/>
              </a:tblGrid>
              <a:tr h="3708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Hex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Binário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D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1101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Aplicações em Eletrônica Digital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Representação de dados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Projeto de circuitos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Endereçamento de memória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Programação de microcontroladores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Simulação de circuitos digitais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Exercícios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101101₂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decimal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11001101₂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hexadecimal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725₈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decimal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154₈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binário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2F₁₆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decimal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9A₁₆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binário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83₁₀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binário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156₁₀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octal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110111001₂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octal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14440" indent="-51444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ptos Display"/>
              <a:buAutoNum type="alphaUcPeriod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Converta o número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345₈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para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hexadecimal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Respostas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blipFill rotWithShape="0">
            <a:blip r:embed="rId1"/>
            <a:stretch>
              <a:fillRect l="-881" t="-3930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rial"/>
              </a:rPr>
              <a:t> 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Desafio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Um técnico em eletrônica está analisando o funcionamento de um circuito digital utilizado no controle de um sistema automatizado. Nesse circuito, os dados são processados internamente no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sistema binário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mas, para facilitar a visualização humana, os valores são exibidos em um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display hexadecimal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Durante um teste, o técnico observou que o valor armazenado no circuito era </a:t>
            </a:r>
            <a:r>
              <a:rPr lang="pt-BR" sz="2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11001101₂</a:t>
            </a: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Para registrar corretamente esse valor no relatório técnico, ele precisa converter esse número para o sistema hexadecimal.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Qual é o valor correspondente no sistema hexadecimal?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a) B3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b) C5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c) CD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d) D3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e) CF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983520" y="365040"/>
            <a:ext cx="103701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pt-BR" sz="3600" b="1" u="none" strike="noStrike">
                <a:solidFill>
                  <a:srgbClr val="000050"/>
                </a:solidFill>
                <a:effectLst/>
                <a:uFillTx/>
                <a:latin typeface="Arial"/>
              </a:rPr>
              <a:t>Fim!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983520" y="1825560"/>
            <a:ext cx="1037016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pt-BR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_Aems_2026_v1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79</TotalTime>
  <Application>LibreOffice/25.8.4.2$Linux_X86_64 LibreOffice_project/580$Build-2</Application>
  <AppVersion>15.0000</AppVersion>
  <Words>1247</Words>
  <Paragraphs>340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2026-02-05T19:47:57Z</dcterms:created>
  <dc:creator>Richard Vieira do Espirito Santo</dc:creator>
  <dc:description/>
  <dc:language>pt-BR</dc:language>
  <cp:lastModifiedBy/>
  <dcterms:modified xsi:type="dcterms:W3CDTF">2026-02-05T19:27:44Z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27</vt:i4>
  </property>
</Properties>
</file>